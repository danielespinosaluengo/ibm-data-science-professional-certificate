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DanielEspinosaLuengo/IBM-Data-Science-Professional-Certificate/blob/main/10-Applied-Data-Science-Capstone/jupyter-labs-spacex-data-collection-api-v2.ipynb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DanielEspinosaLuengo/IBM-Data-Science-Professional-Certificate/blob/main/10-Applied-Data-Science-Capstone/jupyter-labs-webscraping.ipyn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DanielEspinosaLuengo/IBM-Data-Science-Professional-Certificate/blob/main/10-Applied-Data-Science-Capstone/labs-jupyter-spacex-Data%20wrangling-v2.ipynb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DanielEspinosaLuengo/IBM-Data-Science-Professional-Certificate/blob/main/10-Applied-Data-Science-Capstone/jupyter-labs-eda-dataviz-v2.ipynb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DanielEspinosaLuengo/IBM-Data-Science-Professional-Certificate/blob/main/10-Applied-Data-Science-Capstone/jupyter-labs-eda-sql-coursera_sqllite.ipynb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DanielEspinosaLuengo/IBM-Data-Science-Professional-Certificate/blob/main/10-Applied-Data-Science-Capstone/lab-jupyter-launch-site-location-v2.ipynb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DanielEspinosaLuengo/IBM-Data-Science-Professional-Certificate/blob/main/10-Applied-Data-Science-Capstone/spacex_dash_app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github.com/DanielEspinosaLuengo/IBM-Data-Science-Professional-Certificate/blob/main/10-Applied-Data-Science-Capstone/SpaceX-Machine-Learning-Prediction-Part-5-v1.ipyn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331720"/>
            <a:ext cx="969264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Winning Space Race</a:t>
            </a:r>
          </a:p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with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6012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</a:defRPr>
            </a:pPr>
            <a:r>
              <a:t>Falcon 9 booster landing analysis | IBM Data Science Capstone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Executive summary and research question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Methods: collection, wrangling, SQL, EDA, mapping and dashboards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Results from exploratory analysis and classification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Conclusions, limitations and project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I analyzed 90 historical Falcon 9 launches using IBM course data (2010–2020).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overall recorded booster landing success rate is 66.7% (60/90).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I cleaned the records, explored locations, payloads and orbits, and used four classification models.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Logistic regression, SVM and KNN each reached 83.3% accuracy on the same test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SpaceX develops reusable rocket boosters. This project looks at the first-stage landing outcome rather than mission success.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Question: Can historical launch information help explain and predict whether a booster lands successfully?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I compare flight order, payload mass, launch site, orbit and booster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331720"/>
            <a:ext cx="969264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96012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</a:defRPr>
            </a:pPr>
            <a: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Methodology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Data: IBM SpaceX API snapshot and Wikipedia scraping exercise.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Cleaning: missing values, outcome labels and one-hot categorical encoding.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Analysis: pandas, SQL, seaborn/matplotlib, Folium and Plotly Dash.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Prediction: train/test split, scaling, grid search with 10-fold CV, test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SpaceX API archive → JSON records → pandas DataFrame.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Wikipedia HTML → BeautifulSoup → launch tables.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API server returned HTTP 525 during execution; the archived IBM JSON/CSV was used to continue.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I kept the data-source distinction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SpaceX API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1498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1. Load historical launch JSON from IBM course mirror.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2. Normalize the nested JSON into a DataFrame.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3. Identify Falcon 9 launches and launch attributes.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4. Keep 90 launches for the later exercises.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Notebook and executed outputs: see the linked GitHub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43600"/>
            <a:ext cx="100584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250B7"/>
                </a:solidFill>
              </a:defRPr>
            </a:pPr>
            <a:r>
              <a:t>https://github.com/DanielEspinosaLuengo/IBM-Data-Science-Professional-Certificate/tree/main/10-Applied-Data-Science-Capstone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081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D539F"/>
                </a:solidFill>
              </a:defRPr>
            </a:pPr>
            <a:r>
              <a:rPr>
                <a:hlinkClick r:id="rId3"/>
              </a:rPr>
              <a:t>Notebook/source: jupyter-labs-spacex-data-collection-api-v2.ipynb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Wikipedia Web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1498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1. Download the Falcon 9 launch-history HTML.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2. Parse launch tables with BeautifulSoup.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3. Extract dates, booster versions, payloads, launch sites and outcomes.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4. Handle missing hyperlinks by extracting cell text.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scraping exercise uses a separate historical table from the API snapshot.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43600"/>
            <a:ext cx="100584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250B7"/>
                </a:solidFill>
              </a:defRPr>
            </a:pPr>
            <a:r>
              <a:t>https://github.com/DanielEspinosaLuengo/IBM-Data-Science-Professional-Certificate/tree/main/10-Applied-Data-Science-Capstone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081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D539F"/>
                </a:solidFill>
              </a:defRPr>
            </a:pPr>
            <a:r>
              <a:rPr>
                <a:hlinkClick r:id="rId3"/>
              </a:rPr>
              <a:t>Notebook/source: jupyter-labs-webscraping.ipynb</a:t>
            </a: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Data Wrangling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1498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final modeling table contains 90 observations.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Map landing outcomes to binary Class: 1 = successful landing; 0 = other outcome.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Fill missing payload mass where required; inspect missing landing-pad values.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One-hot encode orbit, launch site, landing pad and booster serial.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resulting feature table has 80 columns.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43600"/>
            <a:ext cx="100584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250B7"/>
                </a:solidFill>
              </a:defRPr>
            </a:pPr>
            <a:r>
              <a:t>https://github.com/DanielEspinosaLuengo/IBM-Data-Science-Professional-Certificate/tree/main/10-Applied-Data-Science-Capstone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081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D539F"/>
                </a:solidFill>
              </a:defRPr>
            </a:pPr>
            <a:r>
              <a:rPr>
                <a:hlinkClick r:id="rId3"/>
              </a:rPr>
              <a:t>Notebook/source: labs-jupyter-spacex-Data wrangling-v2.ipynb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EDA with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1498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Scatterplots compare flight number and payload mass across launch sites and orbits.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A bar chart summarizes success rate by orbit.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A line chart shows the yearly landing-success pattern.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I use color to distinguish successful and unsuccessful booster landings.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43600"/>
            <a:ext cx="100584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250B7"/>
                </a:solidFill>
              </a:defRPr>
            </a:pPr>
            <a:r>
              <a:t>https://github.com/DanielEspinosaLuengo/IBM-Data-Science-Professional-Certificate/tree/main/10-Applied-Data-Science-Capstone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081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D539F"/>
                </a:solidFill>
              </a:defRPr>
            </a:pPr>
            <a:r>
              <a:rPr>
                <a:hlinkClick r:id="rId3"/>
              </a:rPr>
              <a:t>Notebook/source: jupyter-labs-eda-dataviz-v2.ipynb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EDA with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1498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Queries used SELECT DISTINCT, WHERE, LIKE, GROUP BY, COUNT, SUM, AVG, MIN/MAX and date conditions.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Questions included unique launch sites, NASA payload mass, early landing dates and outcome counts.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exercise database is a separate launch-history table and is not identical to the 90-row API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43600"/>
            <a:ext cx="100584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250B7"/>
                </a:solidFill>
              </a:defRPr>
            </a:pPr>
            <a:r>
              <a:t>https://github.com/DanielEspinosaLuengo/IBM-Data-Science-Professional-Certificate/tree/main/10-Applied-Data-Science-Capstone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081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D539F"/>
                </a:solidFill>
              </a:defRPr>
            </a:pPr>
            <a:r>
              <a:rPr>
                <a:hlinkClick r:id="rId3"/>
              </a:rPr>
              <a:t>Notebook/source: jupyter-labs-eda-sql-coursera_sqllite.ipynb</a:t>
            </a: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Interactive Map with Folium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1498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Site markers show launch-site positions and landing outcomes.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Color-coded markers make success and failure easier to compare.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Circles, lines and proximity checks help explore geographic context.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HTML map is saved as a separate project artifact.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43600"/>
            <a:ext cx="100584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250B7"/>
                </a:solidFill>
              </a:defRPr>
            </a:pPr>
            <a:r>
              <a:t>https://github.com/DanielEspinosaLuengo/IBM-Data-Science-Professional-Certificate/tree/main/10-Applied-Data-Science-Capstone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081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D539F"/>
                </a:solidFill>
              </a:defRPr>
            </a:pPr>
            <a:r>
              <a:rPr>
                <a:hlinkClick r:id="rId3"/>
              </a:rPr>
              <a:t>Notebook/source: lab-jupyter-launch-site-location-v2.ipynb</a:t>
            </a: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Plotly Dash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1498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Dropdown: All Sites or a selected launch site.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Pie chart: share of successful landings by site or outcome split at one site.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Payload slider filters the mass range shown in the scatterplot.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Point colors show booster version categories.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screenshots included later were captured from the running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43600"/>
            <a:ext cx="100584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250B7"/>
                </a:solidFill>
              </a:defRPr>
            </a:pPr>
            <a:r>
              <a:t>https://github.com/DanielEspinosaLuengo/IBM-Data-Science-Professional-Certificate/tree/main/10-Applied-Data-Science-Capstone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081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D539F"/>
                </a:solidFill>
              </a:defRPr>
            </a:pPr>
            <a:r>
              <a:rPr>
                <a:hlinkClick r:id="rId3"/>
              </a:rPr>
              <a:t>Notebook/source: spacex_dash_app.py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Predictive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1498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80 input features and binary outcome target.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Standardize predictors, split into train and test sets.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Tune logistic regression, SVM, KNN and decision tree using GridSearchCV.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Compare all models on the same held-out test records.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Accuracy reflects this historical course sample, not future rocket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943600"/>
            <a:ext cx="10058400" cy="23774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250B7"/>
                </a:solidFill>
              </a:defRPr>
            </a:pPr>
            <a:r>
              <a:t>https://github.com/DanielEspinosaLuengo/IBM-Data-Science-Professional-Certificate/tree/main/10-Applied-Data-Science-Capstone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0819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D539F"/>
                </a:solidFill>
              </a:defRPr>
            </a:pPr>
            <a:r>
              <a:rPr>
                <a:hlinkClick r:id="rId3"/>
              </a:rPr>
              <a:t>Notebook/source: SpaceX-Machine-Learning-Prediction-Part-5-v1.ipynb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Results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90 Falcon 9 launches, 60 recorded successful booster landings.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Success varies across launch sites and orbit categories.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Yearly success becomes more frequent in later years, with fluctuations.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Three classification models tied at 83.3% test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331720"/>
            <a:ext cx="969264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96012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</a:defRPr>
            </a:pPr>
            <a: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Flight Number vs. Launch Site</a:t>
            </a:r>
          </a:p>
        </p:txBody>
      </p:sp>
      <p:pic>
        <p:nvPicPr>
          <p:cNvPr id="5" name="Picture 4" descr="flight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9022"/>
            <a:ext cx="10652760" cy="40571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Green = successful landing; red = other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Payload vs. Launch Site</a:t>
            </a:r>
          </a:p>
        </p:txBody>
      </p:sp>
      <p:pic>
        <p:nvPicPr>
          <p:cNvPr id="5" name="Picture 4" descr="payload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9022"/>
            <a:ext cx="10652760" cy="40571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Payload distributions vary across the three sites.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Landing Success by Orbit</a:t>
            </a:r>
          </a:p>
        </p:txBody>
      </p:sp>
      <p:pic>
        <p:nvPicPr>
          <p:cNvPr id="5" name="Picture 4" descr="orbit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1460022"/>
            <a:ext cx="10652760" cy="4075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Small orbit categories should be interpreted carefully.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Flight Number vs. Orbit</a:t>
            </a:r>
          </a:p>
        </p:txBody>
      </p:sp>
      <p:pic>
        <p:nvPicPr>
          <p:cNvPr id="5" name="Picture 4" descr="flight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70460"/>
            <a:ext cx="10652760" cy="4054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Launches are grouped by orbit type and flight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Payload vs. Orbit</a:t>
            </a:r>
          </a:p>
        </p:txBody>
      </p:sp>
      <p:pic>
        <p:nvPicPr>
          <p:cNvPr id="5" name="Picture 4" descr="payload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6141"/>
            <a:ext cx="10652760" cy="40628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Payload masses differ by orbit 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Yearly Success Trend</a:t>
            </a:r>
          </a:p>
        </p:txBody>
      </p:sp>
      <p:pic>
        <p:nvPicPr>
          <p:cNvPr id="5" name="Picture 4" descr="year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1467582"/>
            <a:ext cx="10652760" cy="4059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Rates tend to improve but are not monotonic.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Unique Launch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SQL: SELECT DISTINCT Launch_Site FROM SPACEXTBL;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historical SQL table contains CCAFS LC-40, CCAFS SLC-40, KSC LC-39A and VAFB SLC-4E naming variants.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cleaned API sample consolidates the main launch sites into three groups.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distinct launch 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CCAFS LC-40 · CCAFS SLC-40 · KSC LC-39A · VAFB SLC-4E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The two CCAFS names are kept separate because they are distinct strings in this historical table.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Launch Sites Beginning with CCA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SQL: SELECT * FROM SPACEXTBL WHERE Launch_Site LIKE "CCA%" LIMIT 5;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This filters launches from Cape Canaveral using a prefix match.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LIMIT clause displays five example records rather than the full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first five matching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2010-06-04  |  CCAFS LC-40  |  F9 v1.0  B0003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2010-12-08  |  CCAFS LC-40  |  F9 v1.0  B0004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2012-05-22  |  CCAFS LC-40  |  F9 v1.0  B0005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2012-10-08  |  CCAFS LC-40  |  F9 v1.0  B0006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2013-03-01  |  CCAFS LC-40  |  F9 v1.0  B0007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NASA Payload Mass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SQL: SELECT SUM(PAYLOAD_MASS__KG_) FROM SPACEXTBL WHERE Customer LIKE "%NASA%";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sum answers how much payload mass NASA-associated missions carried in the SQL table.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Note: the database includes rows not identical to the 90-row modeling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SUM(payload mass)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107,010 kg of payload mass across rows whose Customer field contains “NASA”.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Source: saved SQLite table SPACEXTBL (historical IBM course dataset).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Average Mass — F9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SQL: SELECT AVG(PAYLOAD_MASS__KG_) FROM SPACEXTBL WHERE Booster_Version LIKE "F9 v1.1%";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This estimates typical payload mass for the early Falcon 9 v1.1 booster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AVG(payload mass)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2,534.67 kg average payload for booster descriptions beginning with “F9 v1.1”.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First Successful Ground Landing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 filters Landing_Outcome = "Success (ground pad)" and returns MIN(Date).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First successful Falcon 9 booster landing on solid ground: 2015-12-22 (UTC date in this course table).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MIN(Date)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2015-12-22 — earliest “Success (ground pad)” recorded in the SQL table.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Successful Drone-Ship Landings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 filters Landing_Outcome = "Success (drone ship)" and payload mass BETWEEN 4000 AND 6000 kg.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This demonstrates filtering by both numeric payload interval and landing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four qualifying launches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JCSAT-14 (4,696 kg) · JCSAT-16 (4,600 kg)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SES-10 (5,300 kg) · SES-11 / EchoStar 105 (5,200 kg)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Mission Success and Failure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 uses TRIM(Mission_Outcome), GROUP BY and COUNT(*).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Mission outcome refers to carrying out the flight mission; it is not the same variable as first-stage booster landing success.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course SQL data contains extra outcome variants.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normalized mission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Success: 99 · Failure (in flight): 1 · Success (payload status unclear): 1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A trailing space in one “Success ” entry was removed for grouping.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Maximum Payload Mass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 selects MAX(PAYLOAD_MASS__KG_) and the booster versions with this value.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This highlights a record payload launch in the SQL dataset.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Maximum payload in the cleaned 90-launch API dataset: 15,600 kg.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maximum 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15,600 kg (MAX(PAYLOAD_MASS__KG_)). This is the highest recorded payload in the SQL exercise table.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2015 Drone-Ship Landing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 combines year filtering on Date with Landing_Outcome = "Failure (drone ship)".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output provides booster version and launch site for the selected unsuccessful landing attempts.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2015 drone-ship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F9 v1.1 B1012 — CCAFS LC-40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F9 v1.1 B1015 — CCAFS LC-40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Landing Outcomes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SQL groups outcomes between 2010-06-04 and 2017-03-20 and orders counts from most to least frequent.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output distinguishes ocean-controlled, ground-pad and drone-ship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86200"/>
            <a:ext cx="10149840" cy="2148840"/>
          </a:xfrm>
          <a:prstGeom prst="roundRect">
            <a:avLst/>
          </a:prstGeom>
          <a:solidFill>
            <a:srgbClr val="E6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5993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5325F"/>
                </a:solidFill>
              </a:defRPr>
            </a:pPr>
            <a:r>
              <a:t>Query result — outcomes in selected date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89704"/>
            <a:ext cx="9555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No attempt 10 · Success (drone ship) 5 · Failure (drone ship) 5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Success (ground pad) 3 · Controlled (ocean) 3 · Uncontrolled (ocean) 2</a:t>
            </a:r>
          </a:p>
          <a:p>
            <a:pPr>
              <a:spcAft>
                <a:spcPts val="700"/>
              </a:spcAft>
              <a:defRPr sz="1400" b="0">
                <a:solidFill>
                  <a:srgbClr val="15325F"/>
                </a:solidFill>
              </a:defRPr>
            </a:pPr>
            <a:r>
              <a:t>Failure (parachute) 2 · Precluded (drone ship) 1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331720"/>
            <a:ext cx="969264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Interactive Folium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96012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</a:defRPr>
            </a:pPr>
            <a: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Launch Site Map</a:t>
            </a:r>
          </a:p>
        </p:txBody>
      </p:sp>
      <p:pic>
        <p:nvPicPr>
          <p:cNvPr id="5" name="Picture 4" descr="map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1467582"/>
            <a:ext cx="10652760" cy="4059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Historical coordinates; site markers overlap where many flights share one 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Launch Site Outcomes</a:t>
            </a:r>
          </a:p>
        </p:txBody>
      </p:sp>
      <p:pic>
        <p:nvPicPr>
          <p:cNvPr id="5" name="Picture 4" descr="map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1467582"/>
            <a:ext cx="10652760" cy="4059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Colors indicate landing class, with slight jitter to separate identical coordinates.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Launch-Site Geography</a:t>
            </a:r>
          </a:p>
        </p:txBody>
      </p:sp>
      <p:pic>
        <p:nvPicPr>
          <p:cNvPr id="5" name="Picture 4" descr="map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0353"/>
            <a:ext cx="10652759" cy="40744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21208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3636"/>
                </a:solidFill>
              </a:defRPr>
            </a:pPr>
            <a:r>
              <a:t>Proximity measurements to road, railway and coastline are not independently verified by the saved geospatial dataset. The map illustrates site locations only; no fabricated distance is reported.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331720"/>
            <a:ext cx="969264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Plotly Dash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96012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</a:defRPr>
            </a:pPr>
            <a: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Dashboard — All Launch Sites</a:t>
            </a:r>
          </a:p>
        </p:txBody>
      </p:sp>
      <p:pic>
        <p:nvPicPr>
          <p:cNvPr id="5" name="Picture 4" descr="image(20261010-21554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225" y="1207008"/>
            <a:ext cx="5743949" cy="5010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Dashboard — KSC LC-39A</a:t>
            </a:r>
          </a:p>
        </p:txBody>
      </p:sp>
      <p:pic>
        <p:nvPicPr>
          <p:cNvPr id="5" name="Picture 4" descr="image(20261010-21562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556" y="1207008"/>
            <a:ext cx="5663286" cy="5010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Dashboard 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Changing the launch-site dropdown updates the pie chart and scatterplot.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payload slider filters the points shown by mass.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two screenshots compare a general view with one selected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331720"/>
            <a:ext cx="969264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</a:defRPr>
            </a:pPr>
            <a:r>
              <a:t>Predictive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96012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FFFFF"/>
                </a:solidFill>
              </a:defRPr>
            </a:pPr>
            <a: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Classification Model Comparison</a:t>
            </a:r>
          </a:p>
        </p:txBody>
      </p:sp>
      <p:pic>
        <p:nvPicPr>
          <p:cNvPr id="5" name="Picture 4" descr="ml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16" y="1325880"/>
            <a:ext cx="5741206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33872"/>
            <a:ext cx="10332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495A71"/>
                </a:solidFill>
              </a:defRPr>
            </a:pPr>
            <a:r>
              <a:t>Three models tie on the same test split; decision tree performs worse.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Confusion Matrix —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44</a:t>
            </a:r>
          </a:p>
        </p:txBody>
      </p:sp>
      <p:pic>
        <p:nvPicPr>
          <p:cNvPr id="8" name="Picture 7" descr="confusion_logr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280160"/>
            <a:ext cx="484632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57784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3251"/>
                </a:solidFill>
              </a:defRPr>
            </a:pPr>
            <a:r>
              <a:t>Logistic regression confusion matrix from the executed notebook. 12 true positives; 3 false positives. Test accuracy: 83.3%.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Landing success became more common in the later years of this historical dataset.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landing rate differs by orbit and site; smaller categories can give unstable percentages.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Logistic regression, SVM and KNN tied at 83.3% accuracy on the test split.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These patterns are associations, not proof that payload or launch site causes success.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More recent launches and external validation would improve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Appendix —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Source notebooks: API, web scraping, data wrangling, SQL, visual EDA, Folium and ML.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Saved files: dataset_part_1.csv, dataset_part_2.csv, dataset_part_3.csv, SQLite database and Folium HTML.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Plotly Dash Python application and two saved browser screenshots.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All course artifacts are linked from the GitHub folder.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5325F"/>
                </a:solidFill>
              </a:defRPr>
            </a:pPr>
            <a:r>
              <a:t>Dataset note: SQL exercise table contains 101 rows; modeling dataset contains 90 rows. These are different course snapshots and should not be directly equated.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5448"/>
          </a:xfrm>
          <a:prstGeom prst="rect">
            <a:avLst/>
          </a:prstGeom>
          <a:solidFill>
            <a:srgbClr val="1250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6984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C275B"/>
                </a:solidFill>
              </a:defRPr>
            </a:pPr>
            <a:r>
              <a:t>References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581912"/>
            <a:ext cx="10241280" cy="4453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GitHub: github.com/DanielEspinosaLuengo/IBM-Data-Science-Professional-Certificate/tree/main/10-Applied-Data-Science-Capstone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This is a historical IBM course dataset, not a live SpaceX flight database.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The API endpoint was unavailable (HTTP 525); the IBM archived snapshot was used.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Differences in site naming and source populations were not silently merged.</a:t>
            </a:r>
          </a:p>
          <a:p>
            <a:pPr>
              <a:spcAft>
                <a:spcPts val="1200"/>
              </a:spcAft>
              <a:defRPr sz="1900" b="0">
                <a:solidFill>
                  <a:srgbClr val="12243E"/>
                </a:solidFill>
              </a:defRPr>
            </a:pPr>
            <a:r>
              <a:t>Model comparisons are descriptive for a small held-out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6510528"/>
            <a:ext cx="9601200" cy="2194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495A71"/>
                </a:solidFill>
              </a:defRPr>
            </a:pPr>
            <a:r>
              <a:t>IBM Data Science Capstone | Falcon 9 historical course data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457200" cy="2560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495A71"/>
                </a:solidFill>
              </a:defRPr>
            </a:pPr>
            <a: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